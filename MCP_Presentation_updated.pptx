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7" r:id="rId11"/>
    <p:sldId id="268" r:id="rId12"/>
    <p:sldId id="264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63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gif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51560"/>
            <a:ext cx="1417320" cy="14173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mcp_ppt/icon_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463" y="1420063"/>
            <a:ext cx="680314" cy="6803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8892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0" y="37947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0" y="4343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LLMs a standard way to reach the outside world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AI Session · CSI-VIT Chennai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Recap: What is MCP?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mcp_ppt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377440" y="1463040"/>
            <a:ext cx="9235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697480" y="16276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odel </a:t>
            </a: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2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ontext </a:t>
            </a:r>
            <a:r>
              <a:rPr lang="en-US" sz="2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rotocol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697480" y="2148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that lets an LLM discover and use external tools, data, and services — in a consistent way, no matter who built them.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we'll build up the picture piece by piece: why LLMs need this in the first place, who the players are, and how a request actually flows end-to-end.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709160"/>
            <a:ext cx="10789920" cy="1417320"/>
          </a:xfrm>
          <a:prstGeom prst="roundRect">
            <a:avLst>
              <a:gd name="adj" fmla="val 6452"/>
            </a:avLst>
          </a:prstGeom>
          <a:solidFill>
            <a:srgbClr val="E7F1F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8646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section you'll be able to: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193792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an LLM alone can't answer real-time or personal questions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three actors in MCP and what each one does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full request from user to tool and back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LLM, Really?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178308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mcp_ppt/icon_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667" y="209214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 you already know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05840" y="42062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built on an LLM — but a chat app is far more than the raw model underneath it.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5087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job of an LLM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0" y="210312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2359152"/>
            <a:ext cx="548640" cy="5486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2359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03720" y="2212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03720" y="2606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encode the incoming text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49640" y="3136392"/>
            <a:ext cx="274320" cy="16459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5943600" y="333756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3593592"/>
            <a:ext cx="548640" cy="5486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3593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03720" y="34472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03720" y="3840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over it using learned patterns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549640" y="4370832"/>
            <a:ext cx="274320" cy="16459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2" name="Shape 19"/>
          <p:cNvSpPr/>
          <p:nvPr/>
        </p:nvSpPr>
        <p:spPr>
          <a:xfrm>
            <a:off x="5943600" y="457200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72200" y="4828032"/>
            <a:ext cx="548640" cy="5486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4" name="Text 21"/>
          <p:cNvSpPr/>
          <p:nvPr/>
        </p:nvSpPr>
        <p:spPr>
          <a:xfrm>
            <a:off x="6172200" y="4828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903720" y="4681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03720" y="5074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next piece of text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943600" y="58521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 — text in, text out. Nothing more is happening inside the model itself.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Here's the Catch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LLM something simple: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4937760" cy="9144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02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weather today?”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mcp_ppt/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3346704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0" y="3108960"/>
            <a:ext cx="566928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 rot="16200000">
            <a:off x="1783080" y="3520440"/>
            <a:ext cx="365760" cy="27432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2331720" y="31089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can't answer that — unless I was trained on today's weather, or I have access to a place that can fetch it for me.”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0292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knows what it was trained on. It has no eyes on today's weather, your calendar, or a live database — unless something gives it a way to reach out and check.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D82AC4-2130-29DE-FE0E-BC786E5E6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555" y="91440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7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 i="0">
                <a:solidFill>
                  <a:srgbClr val="21295C"/>
                </a:solidFill>
                <a:latin typeface="Calibri"/>
              </a:rPr>
              <a:t>MCP = One USB-C 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5B6B76"/>
                </a:solidFill>
                <a:latin typeface="Calibri"/>
              </a:rPr>
              <a:t>Why a standard protocol is just a smarter way to plug things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66928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47672"/>
            <a:ext cx="1399032" cy="2926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WITHOUT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Every tool = its own cable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303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5B6B76"/>
                </a:solidFill>
                <a:latin typeface="Calibri"/>
              </a:rPr>
              <a:t>Custom integration per LLM-tool pair. Every new tool = more glue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5B6B76"/>
                </a:solidFill>
                <a:latin typeface="Calibri"/>
              </a:rPr>
              <a:t>[ drop the tangled-cables GIF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5120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5B6B76"/>
                </a:solidFill>
                <a:latin typeface="Calibri"/>
              </a:rPr>
              <a:t>(old way: a laptop drowning in proprietary ports)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5303520" cy="54864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Calibri"/>
              </a:rPr>
              <a:t>✗  N × M integrations   ✗  brittle prompts   ✗  breaks when tools change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99632" y="3840480"/>
            <a:ext cx="502920" cy="411480"/>
          </a:xfrm>
          <a:prstGeom prst="rightArrow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1783080"/>
            <a:ext cx="507492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0" y="1947672"/>
            <a:ext cx="1280160" cy="29260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WITH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4709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One protocol, many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97480"/>
            <a:ext cx="470915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5B6B76"/>
                </a:solidFill>
                <a:latin typeface="Calibri"/>
              </a:rPr>
              <a:t>Build the connection once. Any compliant tool plugs into the same 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069080"/>
            <a:ext cx="452628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 dirty="0">
                <a:solidFill>
                  <a:srgbClr val="5B6B76"/>
                </a:solidFill>
                <a:latin typeface="Calibri"/>
              </a:rPr>
              <a:t>[ dr the USB-C hub illustration here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577840"/>
            <a:ext cx="4709159" cy="54864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100" b="1">
                <a:solidFill>
                  <a:srgbClr val="1C7293"/>
                </a:solidFill>
                <a:latin typeface="Calibri"/>
              </a:rPr>
              <a:t>✓  standard protocol   ✓  plug-and-play   ✓  tools swap freely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B6B76"/>
                </a:solidFill>
                <a:latin typeface="Calibri"/>
              </a:rPr>
              <a:t>MCP — Model Context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9FA4FD1-725D-712E-F315-F6F5E818B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77" y="2857500"/>
            <a:ext cx="4183380" cy="27889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51E603-98B4-1356-1836-BA2203C91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813" y="3185403"/>
            <a:ext cx="4142610" cy="2133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Glue Code to a Real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60220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mcp_ppt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738" y="21817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08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Code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hand-wrote custom integration code for every single LLM + tool pairing.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05072" y="3401568"/>
            <a:ext cx="274320" cy="329184"/>
          </a:xfrm>
          <a:prstGeom prst="rightArrow">
            <a:avLst/>
          </a:prstGeom>
          <a:solidFill>
            <a:srgbClr val="FFB627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0" y="1574746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279392" y="1928899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4655820" y="2331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an N × M mess — brittle, duplicated, and it doesn't scale as tools and models multiply.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54112" y="3401568"/>
            <a:ext cx="274320" cy="329184"/>
          </a:xfrm>
          <a:prstGeom prst="rightArrow">
            <a:avLst/>
          </a:prstGeom>
          <a:solidFill>
            <a:srgbClr val="FFB627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0" y="16002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58300" y="192024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mcp_ppt/icon_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9818" y="2181758"/>
            <a:ext cx="482803" cy="482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3108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Solution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21040" y="36118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open, standard protocol. Build the connection once — any compliant LLM or tool can use it.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F6BE57D-BE73-BFA2-B393-7907DCD33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586" y="3229288"/>
            <a:ext cx="2610612" cy="2088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Actors, One Protocol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MCP interaction comes down to these three roles: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60220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mcp_ppt/icon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738" y="23646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918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6850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(lives inside the host app)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on behalf of the LLM. Connects to servers, requests their tools, and forwards results back.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09260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mcp_ppt/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778" y="2364638"/>
            <a:ext cx="482803" cy="482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32918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297680" y="36850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(wraps a tool or data source)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0" y="40690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 set of capabilities — e.g. a weather API, a file system, a database — in the MCP format.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78308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21295C"/>
          </a:solidFill>
          <a:ln/>
        </p:spPr>
      </p:sp>
      <p:sp>
        <p:nvSpPr>
          <p:cNvPr id="17" name="Shape 13"/>
          <p:cNvSpPr/>
          <p:nvPr/>
        </p:nvSpPr>
        <p:spPr>
          <a:xfrm>
            <a:off x="9258300" y="2103120"/>
            <a:ext cx="1005840" cy="100584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8" name="Image 2" descr="/home/claude/mcp_ppt/icon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9818" y="2364638"/>
            <a:ext cx="482803" cy="482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32918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046720" y="36850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reasoning engine)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21040" y="40690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*when* a tool is needed and *what* to ask for, based on the tool descriptions it's given.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One: Discovering What's Available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question is asked, the client finds out what the server can 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606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mcp_ppt/icon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28437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950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host app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0" y="237744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0" y="2606040"/>
            <a:ext cx="914400" cy="91440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1" name="Image 1" descr="/home/claude/mcp_ppt/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4" y="28437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686800" y="3950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tool / data source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520440" y="2743200"/>
            <a:ext cx="512064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5" name="Text 11"/>
          <p:cNvSpPr/>
          <p:nvPr/>
        </p:nvSpPr>
        <p:spPr>
          <a:xfrm>
            <a:off x="3520440" y="2423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 your tools”  (initialize / list_tools request)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520440" y="3520440"/>
            <a:ext cx="5120640" cy="274320"/>
          </a:xfrm>
          <a:prstGeom prst="leftArrow">
            <a:avLst/>
          </a:prstGeom>
          <a:solidFill>
            <a:srgbClr val="FFB627"/>
          </a:solidFill>
          <a:ln/>
        </p:spPr>
      </p:sp>
      <p:sp>
        <p:nvSpPr>
          <p:cNvPr id="17" name="Text 13"/>
          <p:cNvSpPr/>
          <p:nvPr/>
        </p:nvSpPr>
        <p:spPr>
          <a:xfrm>
            <a:off x="352044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list + descriptions (JSON)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4709160"/>
            <a:ext cx="10698480" cy="1417320"/>
          </a:xfrm>
          <a:prstGeom prst="roundRect">
            <a:avLst>
              <a:gd name="adj" fmla="val 7742"/>
            </a:avLst>
          </a:prstGeom>
          <a:solidFill>
            <a:srgbClr val="E7F1F6"/>
          </a:solidFill>
          <a:ln/>
        </p:spPr>
      </p:sp>
      <p:sp>
        <p:nvSpPr>
          <p:cNvPr id="19" name="Text 15"/>
          <p:cNvSpPr/>
          <p:nvPr/>
        </p:nvSpPr>
        <p:spPr>
          <a:xfrm>
            <a:off x="1005840" y="4846320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doesn't just say “yes I have a tool” — it sends back each tool's name, what it does, and what input it expects. This description is what the LLM will later read to decide if the tool is useful.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Two: A Full Round Trip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user actually asks something the LLM needs help with.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1600200"/>
            <a:ext cx="10149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65506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the tool 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66360" y="1655064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+ their descriptions (from Step One) are given to the LLM as context.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3252" y="2386584"/>
            <a:ext cx="128016" cy="10972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463040" y="2514600"/>
            <a:ext cx="10149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56946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to call a tool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6360" y="2569464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over the user's request, it picks a tool and drafts the arguments.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3252" y="3300984"/>
            <a:ext cx="128016" cy="10972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463040" y="3429000"/>
            <a:ext cx="10149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48386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the request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3483864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client forwards that call to the right MCP server.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3252" y="4215384"/>
            <a:ext cx="128016" cy="10972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434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463040" y="4343400"/>
            <a:ext cx="10149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439826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responds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4398264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runs the action and sends the result back through the client.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73252" y="5129784"/>
            <a:ext cx="128016" cy="10972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5349240"/>
            <a:ext cx="594360" cy="59436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49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463040" y="5257800"/>
            <a:ext cx="10149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531266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responds to the user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5312664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data in hand, the LLM produces its final, grounded answer.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7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21295C"/>
                </a:solidFill>
                <a:latin typeface="Calibri"/>
              </a:rPr>
              <a:t>CLIENT GETS THE TOOLS</a:t>
            </a:r>
            <a:endParaRPr sz="32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IN" sz="1400" b="1" dirty="0"/>
              <a:t>When an MCP client connects, it requests the list of available tools from the MCP server.</a:t>
            </a:r>
            <a:endParaRPr sz="1400" b="1" i="1" dirty="0">
              <a:solidFill>
                <a:srgbClr val="5B6B76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399032" cy="2926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WITHOUT MCP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6583680" cy="4297680"/>
          </a:xfrm>
          <a:prstGeom prst="rect">
            <a:avLst/>
          </a:prstGeom>
          <a:solidFill>
            <a:srgbClr val="1E1E2E"/>
          </a:solidFill>
          <a:ln w="9525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8-04 205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57400"/>
            <a:ext cx="621792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60920" y="1920240"/>
            <a:ext cx="4297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0" y="2103120"/>
            <a:ext cx="3840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What you're looking 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442424"/>
            <a:ext cx="3840480" cy="3367076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lang="en-IN" sz="1400" b="1" dirty="0"/>
              <a:t>1. The client requests the available tools.</a:t>
            </a:r>
          </a:p>
          <a:p>
            <a:r>
              <a:rPr lang="en-IN" sz="1400" dirty="0"/>
              <a:t>When an MCP client connects, it sends a </a:t>
            </a:r>
            <a:r>
              <a:rPr lang="en-IN" dirty="0"/>
              <a:t>tools/list</a:t>
            </a:r>
            <a:r>
              <a:rPr lang="en-IN" sz="1400" dirty="0"/>
              <a:t> request asking the server which tools it provides.</a:t>
            </a:r>
          </a:p>
          <a:p>
            <a:endParaRPr lang="en-IN" sz="1400" dirty="0"/>
          </a:p>
          <a:p>
            <a:r>
              <a:rPr lang="en-IN" sz="1400" b="1" dirty="0"/>
              <a:t>2. The server returns each tool definition.</a:t>
            </a:r>
          </a:p>
          <a:p>
            <a:r>
              <a:rPr lang="en-IN" sz="1400" dirty="0"/>
              <a:t>For every available tool, the server returns its </a:t>
            </a:r>
            <a:r>
              <a:rPr lang="en-IN" sz="1400" b="1" dirty="0"/>
              <a:t>name</a:t>
            </a:r>
            <a:r>
              <a:rPr lang="en-IN" sz="1400" dirty="0"/>
              <a:t>, </a:t>
            </a:r>
            <a:r>
              <a:rPr lang="en-IN" sz="1400" b="1" dirty="0"/>
              <a:t>description</a:t>
            </a:r>
            <a:r>
              <a:rPr lang="en-IN" sz="1400" dirty="0"/>
              <a:t>, and </a:t>
            </a:r>
            <a:r>
              <a:rPr lang="en-IN" sz="1400" b="1" dirty="0"/>
              <a:t>input schema</a:t>
            </a:r>
            <a:r>
              <a:rPr lang="en-IN" sz="1400" dirty="0"/>
              <a:t>. This tells the client exactly what the tool does and what parameters it accepts.</a:t>
            </a:r>
          </a:p>
          <a:p>
            <a:br>
              <a:rPr lang="en-IN" sz="1400" dirty="0"/>
            </a:br>
            <a:endParaRPr lang="en-IN" sz="1400" dirty="0"/>
          </a:p>
          <a:p>
            <a:r>
              <a:rPr lang="en-IN" sz="1400" b="1" dirty="0"/>
              <a:t>3. The client stores these definitions.</a:t>
            </a:r>
          </a:p>
          <a:p>
            <a:r>
              <a:rPr lang="en-IN" sz="1400" dirty="0"/>
              <a:t>The client now understands every available tool and can automatically present them to the LLM.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B6B76"/>
                </a:solidFill>
                <a:latin typeface="Calibri"/>
              </a:rPr>
              <a:t>MCP — Model Context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7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IN" sz="3200" dirty="0"/>
              <a:t>CLIENT INFORMS THE LLM ABOUT THE TOOLS</a:t>
            </a:r>
            <a:endParaRPr sz="3200" b="1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IN" sz="1400" dirty="0"/>
              <a:t>The client embeds the discovered tool definitions into the system prompt.</a:t>
            </a:r>
            <a:endParaRPr lang="en-US" sz="1400" i="1" dirty="0">
              <a:solidFill>
                <a:srgbClr val="5B6B76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399032" cy="2926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8288" rIns="45720" bIns="18288" rtlCol="0" anchor="ctr"/>
          <a:lstStyle/>
          <a:p>
            <a:pPr algn="ctr"/>
            <a:endParaRPr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6583680" cy="4297680"/>
          </a:xfrm>
          <a:prstGeom prst="rect">
            <a:avLst/>
          </a:prstGeom>
          <a:solidFill>
            <a:srgbClr val="1E1E2E"/>
          </a:solidFill>
          <a:ln w="9525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8-04 210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621792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60920" y="1920240"/>
            <a:ext cx="4297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0" y="2103120"/>
            <a:ext cx="3840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The hidden job of the system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606040"/>
            <a:ext cx="4069080" cy="284385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lang="en-IN" sz="1200" b="1" dirty="0"/>
              <a:t>1. Builds the system prompt</a:t>
            </a:r>
          </a:p>
          <a:p>
            <a:r>
              <a:rPr lang="en-IN" sz="1200" dirty="0"/>
              <a:t>The client creates a system prompt that tells the LLM how it should behave before processing the user's request.</a:t>
            </a:r>
          </a:p>
          <a:p>
            <a:br>
              <a:rPr lang="en-IN" sz="1200" dirty="0"/>
            </a:br>
            <a:endParaRPr lang="en-IN" sz="1200" dirty="0"/>
          </a:p>
          <a:p>
            <a:r>
              <a:rPr lang="en-IN" sz="1200" b="1" dirty="0"/>
              <a:t>2. Injects the discovered tools</a:t>
            </a:r>
          </a:p>
          <a:p>
            <a:r>
              <a:rPr lang="en-IN" sz="1200" dirty="0"/>
              <a:t>The client inserts the tool definitions received from the MCP server, allowing the LLM to understand what tools are available and how to use them.</a:t>
            </a:r>
          </a:p>
          <a:p>
            <a:br>
              <a:rPr lang="en-IN" sz="1200" dirty="0"/>
            </a:br>
            <a:endParaRPr lang="en-IN" sz="1200" dirty="0"/>
          </a:p>
          <a:p>
            <a:r>
              <a:rPr lang="en-IN" sz="1200" b="1" dirty="0"/>
              <a:t>3. Defines the tool-calling rules</a:t>
            </a:r>
          </a:p>
          <a:p>
            <a:r>
              <a:rPr lang="en-IN" sz="1200" dirty="0"/>
              <a:t>The prompt instructs the model when to use a tool, when to answer directly, and the exact JSON format required for every tool invocation.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B6B76"/>
                </a:solidFill>
                <a:latin typeface="Calibri"/>
              </a:rPr>
              <a:t>MCP — Model Context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 i="0">
                <a:solidFill>
                  <a:srgbClr val="5B6B7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solves the integration problem — it doesn't remove every risk.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mcp_ppt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poisoning
</a:t>
            </a: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or compromised server can write misleading tool descriptions to trick the LLM into harmful actions.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4290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via tool output
</a:t>
            </a: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returned from a tool can contain hidden instructions the LLM may follow unintentionally.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permissions
</a:t>
            </a: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connected for one task (e.g. read files) may quietly be able to do more — the “confused deputy” problem.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8006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auth standard yet
</a:t>
            </a: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Authentication/authorization patterns across servers are still inconsistent.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54864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supply-chain risk
</a:t>
            </a: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MCP server you connect is code you didn't write, running with real access.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mcp_ppt/icon_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213238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Limitations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37960" y="27432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just a language model
</a:t>
            </a: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can misread a tool's description or call it with the wrong arguments — hallucination doesn't disappear.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37960" y="34290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connected servers
</a:t>
            </a: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do what a currently-connected server exposes — nothing more.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37960" y="41148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latency &amp; complexity
</a:t>
            </a: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round trip costs time, and more moving parts means more failure points.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37960" y="48006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guaranteed determinism
</a:t>
            </a: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 can lead to different tool choices on different runs.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7960" y="54864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still needed
</a:t>
            </a: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actions (payments, deletions, messages) should keep a human in the loop.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already the plumbing behind a lot of tools you may have used.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mcp_ppt/icon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098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and similar tools use MCP to read repos, run terminal commands, and open files directly.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20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mcp_ppt/icon_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588" y="20985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89280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AI Assistants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connects to local files, Google Drive, and calendars through MCP servers.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920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mcp_ppt/icon_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20985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189280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Docs Tools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7532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for Notion, Slack, and Jira let an LLM read tickets, pages, and messages on request.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14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mcp_ppt/icon_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42931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0873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Analytics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can query a live database or BI tool through a server, instead of stale training data.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114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mcp_ppt/icon_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588" y="42931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0873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2628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agents pull real order or account details from a CRM server before replying.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114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mcp_ppt/icon_excha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628" y="429310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0873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75320" y="4846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multiple MCP servers lets one assistant trigger actions across several apps at once.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mcp_ppt/icon_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12710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5146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97280" y="3200400"/>
            <a:ext cx="9994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gives LLMs a standard, describable way to reach real tools and data —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“I can't do that” into a grounded, verifiable answer.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51206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0" y="5760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1550</Words>
  <Application>Microsoft Office PowerPoint</Application>
  <PresentationFormat>Widescreen</PresentationFormat>
  <Paragraphs>182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ibhan Mukherjee</cp:lastModifiedBy>
  <cp:revision>2</cp:revision>
  <dcterms:created xsi:type="dcterms:W3CDTF">2026-08-04T07:20:41Z</dcterms:created>
  <dcterms:modified xsi:type="dcterms:W3CDTF">2026-08-04T17:24:12Z</dcterms:modified>
</cp:coreProperties>
</file>